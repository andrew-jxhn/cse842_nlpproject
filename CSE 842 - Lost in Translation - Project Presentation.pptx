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Figtree"/>
      <p:regular r:id="rId22"/>
      <p:bold r:id="rId23"/>
      <p:italic r:id="rId24"/>
      <p:boldItalic r:id="rId25"/>
    </p:embeddedFont>
    <p:embeddedFont>
      <p:font typeface="Jost Light"/>
      <p:regular r:id="rId26"/>
      <p:bold r:id="rId27"/>
      <p:italic r:id="rId28"/>
      <p:boldItalic r:id="rId29"/>
    </p:embeddedFont>
    <p:embeddedFont>
      <p:font typeface="Figtree Medium"/>
      <p:regular r:id="rId30"/>
      <p:bold r:id="rId31"/>
      <p:italic r:id="rId32"/>
      <p:boldItalic r:id="rId33"/>
    </p:embeddedFont>
    <p:embeddedFont>
      <p:font typeface="Figtree Light"/>
      <p:regular r:id="rId34"/>
      <p:bold r:id="rId35"/>
      <p:italic r:id="rId36"/>
      <p:boldItalic r:id="rId37"/>
    </p:embeddedFont>
    <p:embeddedFont>
      <p:font typeface="Jos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t-italic.fntdata"/><Relationship Id="rId20" Type="http://schemas.openxmlformats.org/officeDocument/2006/relationships/slide" Target="slides/slide15.xml"/><Relationship Id="rId41" Type="http://schemas.openxmlformats.org/officeDocument/2006/relationships/font" Target="fonts/Jost-boldItalic.fntdata"/><Relationship Id="rId22" Type="http://schemas.openxmlformats.org/officeDocument/2006/relationships/font" Target="fonts/Figtree-regular.fntdata"/><Relationship Id="rId21" Type="http://schemas.openxmlformats.org/officeDocument/2006/relationships/slide" Target="slides/slide16.xml"/><Relationship Id="rId24" Type="http://schemas.openxmlformats.org/officeDocument/2006/relationships/font" Target="fonts/Figtree-italic.fntdata"/><Relationship Id="rId23" Type="http://schemas.openxmlformats.org/officeDocument/2006/relationships/font" Target="fonts/Figtre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ostLight-regular.fntdata"/><Relationship Id="rId25" Type="http://schemas.openxmlformats.org/officeDocument/2006/relationships/font" Target="fonts/Figtree-boldItalic.fntdata"/><Relationship Id="rId28" Type="http://schemas.openxmlformats.org/officeDocument/2006/relationships/font" Target="fonts/JostLight-italic.fntdata"/><Relationship Id="rId27" Type="http://schemas.openxmlformats.org/officeDocument/2006/relationships/font" Target="fonts/Jost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ost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Medium-bold.fntdata"/><Relationship Id="rId30" Type="http://schemas.openxmlformats.org/officeDocument/2006/relationships/font" Target="fonts/FigtreeMedium-regular.fntdata"/><Relationship Id="rId11" Type="http://schemas.openxmlformats.org/officeDocument/2006/relationships/slide" Target="slides/slide6.xml"/><Relationship Id="rId33" Type="http://schemas.openxmlformats.org/officeDocument/2006/relationships/font" Target="fonts/Figtree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FigtreeMedium-italic.fntdata"/><Relationship Id="rId13" Type="http://schemas.openxmlformats.org/officeDocument/2006/relationships/slide" Target="slides/slide8.xml"/><Relationship Id="rId35" Type="http://schemas.openxmlformats.org/officeDocument/2006/relationships/font" Target="fonts/FigtreeLight-bold.fntdata"/><Relationship Id="rId12" Type="http://schemas.openxmlformats.org/officeDocument/2006/relationships/slide" Target="slides/slide7.xml"/><Relationship Id="rId34" Type="http://schemas.openxmlformats.org/officeDocument/2006/relationships/font" Target="fonts/FigtreeLight-regular.fntdata"/><Relationship Id="rId15" Type="http://schemas.openxmlformats.org/officeDocument/2006/relationships/slide" Target="slides/slide10.xml"/><Relationship Id="rId37" Type="http://schemas.openxmlformats.org/officeDocument/2006/relationships/font" Target="fonts/FigtreeLight-boldItalic.fntdata"/><Relationship Id="rId14" Type="http://schemas.openxmlformats.org/officeDocument/2006/relationships/slide" Target="slides/slide9.xml"/><Relationship Id="rId36" Type="http://schemas.openxmlformats.org/officeDocument/2006/relationships/font" Target="fonts/FigtreeLight-italic.fntdata"/><Relationship Id="rId17" Type="http://schemas.openxmlformats.org/officeDocument/2006/relationships/slide" Target="slides/slide12.xml"/><Relationship Id="rId39" Type="http://schemas.openxmlformats.org/officeDocument/2006/relationships/font" Target="fonts/Jost-bold.fntdata"/><Relationship Id="rId16" Type="http://schemas.openxmlformats.org/officeDocument/2006/relationships/slide" Target="slides/slide11.xml"/><Relationship Id="rId38" Type="http://schemas.openxmlformats.org/officeDocument/2006/relationships/font" Target="fonts/Jos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923cefd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923cefd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923cefdf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a923cefdf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a923cefdf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a923cefdf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923cefdf2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a923cefdf2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a923cefdf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a923cefdf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923cefdf2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a923cefdf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a923cefdf2_0_1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a923cefdf2_0_1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a923cefdf2_0_1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a923cefdf2_0_1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a923cefdf2_0_1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a923cefdf2_0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a923cefdf2_0_1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a923cefdf2_0_1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923cefdf2_0_1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a923cefdf2_0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923cefdf2_0_1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a923cefdf2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a923cefdf2_0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a923cefdf2_0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a923cefdf2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a923cefdf2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a923cefdf2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a923cefdf2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923cefdf2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a923cefdf2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1" name="Google Shape;41;p4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4" name="Google Shape;64;p5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5" name="Google Shape;65;p5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6" name="Google Shape;66;p5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7" name="Google Shape;67;p5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9" name="Google Shape;69;p5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78" name="Google Shape;78;p7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3" name="Google Shape;83;p8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9" name="Google Shape;89;p8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0" name="Google Shape;90;p8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9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9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9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3" name="Google Shape;103;p10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09" name="Google Shape;109;p10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" name="Google Shape;112;p11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2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9" name="Google Shape;129;p12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0" name="Google Shape;130;p12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13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5" name="Google Shape;135;p13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8" name="Google Shape;138;p13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3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1" name="Google Shape;141;p13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0" name="Google Shape;150;p14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1" name="Google Shape;151;p14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57" name="Google Shape;157;p15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0" name="Google Shape;160;p15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2" name="Google Shape;162;p15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3" name="Google Shape;163;p15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5" name="Google Shape;165;p15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6" name="Google Shape;166;p15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3" name="Google Shape;173;p16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4" name="Google Shape;174;p16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5" name="Google Shape;175;p16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6" name="Google Shape;176;p16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0" name="Google Shape;180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5" name="Google Shape;185;p17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17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9" name="Google Shape;189;p17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17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7" name="Google Shape;19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8" name="Google Shape;198;p18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0" name="Google Shape;200;p18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1" name="Google Shape;201;p18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2" name="Google Shape;202;p18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3" name="Google Shape;203;p18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18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6" name="Google Shape;206;p18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9" name="Google Shape;209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2" name="Google Shape;212;p19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3" name="Google Shape;213;p19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4" name="Google Shape;214;p19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19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6" name="Google Shape;216;p19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19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19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19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20" name="Google Shape;220;p19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24" name="Google Shape;224;p20"/>
          <p:cNvPicPr preferRelativeResize="0"/>
          <p:nvPr/>
        </p:nvPicPr>
        <p:blipFill rotWithShape="1">
          <a:blip r:embed="rId2">
            <a:alphaModFix/>
          </a:blip>
          <a:srcRect b="14406" l="0" r="0" t="14413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6" name="Google Shape;226;p20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7" name="Google Shape;227;p20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8" name="Google Shape;228;p20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0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0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1" name="Google Shape;231;p20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2" name="Google Shape;232;p20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3" name="Google Shape;233;p20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4" name="Google Shape;234;p20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5" name="Google Shape;235;p20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6" name="Google Shape;236;p20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2" name="Google Shape;242;p21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3" name="Google Shape;243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4" name="Google Shape;244;p2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5" name="Google Shape;245;p2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7" name="Google Shape;247;p21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8" name="Google Shape;248;p21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9" name="Google Shape;249;p21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0" name="Google Shape;250;p21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2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9" name="Google Shape;259;p22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22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22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65" name="Google Shape;265;p22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6" name="Google Shape;266;p22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8" name="Google Shape;268;p22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0" name="Google Shape;270;p22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4" name="Google Shape;274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5" name="Google Shape;275;p2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8" name="Google Shape;278;p23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1" name="Google Shape;281;p23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4" name="Google Shape;284;p23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1" name="Google Shape;291;p24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4" name="Google Shape;294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24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8" name="Google Shape;298;p24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9" name="Google Shape;299;p24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1" name="Google Shape;301;p24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2" name="Google Shape;302;p24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7" name="Google Shape;307;p2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9" name="Google Shape;319;p25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4" name="Google Shape;324;p25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8" name="Google Shape;328;p2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9" name="Google Shape;329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0" name="Google Shape;330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1" name="Google Shape;331;p26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2" name="Google Shape;332;p2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6" name="Google Shape;33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5" name="Google Shape;355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5" name="Google Shape;385;p4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4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2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i.meta.com/research/no-language-left-behind/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idx="3" type="title"/>
          </p:nvPr>
        </p:nvSpPr>
        <p:spPr>
          <a:xfrm>
            <a:off x="189625" y="1545726"/>
            <a:ext cx="8278500" cy="2604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Lost in Translation? 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Evaluating QA and Machine Translation Across Indic Languages with SQuAD Dataset</a:t>
            </a:r>
            <a:endParaRPr sz="4000"/>
          </a:p>
        </p:txBody>
      </p:sp>
      <p:sp>
        <p:nvSpPr>
          <p:cNvPr id="439" name="Google Shape;439;p48"/>
          <p:cNvSpPr txBox="1"/>
          <p:nvPr>
            <p:ph type="title"/>
          </p:nvPr>
        </p:nvSpPr>
        <p:spPr>
          <a:xfrm>
            <a:off x="228225" y="4291296"/>
            <a:ext cx="7310400" cy="3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Andrew John J, Laxmi Vatsalya Daita, Adithya Hassan Hemakantharaju, Shamsvi Balooni Khan, Ab Basit Rafi Syed</a:t>
            </a:r>
            <a:endParaRPr/>
          </a:p>
        </p:txBody>
      </p:sp>
      <p:sp>
        <p:nvSpPr>
          <p:cNvPr id="440" name="Google Shape;440;p48"/>
          <p:cNvSpPr txBox="1"/>
          <p:nvPr>
            <p:ph idx="1" type="subTitle"/>
          </p:nvPr>
        </p:nvSpPr>
        <p:spPr>
          <a:xfrm>
            <a:off x="228225" y="1298200"/>
            <a:ext cx="2712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Natural Language Processing</a:t>
            </a:r>
            <a:endParaRPr/>
          </a:p>
        </p:txBody>
      </p:sp>
      <p:sp>
        <p:nvSpPr>
          <p:cNvPr id="441" name="Google Shape;441;p48"/>
          <p:cNvSpPr txBox="1"/>
          <p:nvPr>
            <p:ph idx="2" type="subTitle"/>
          </p:nvPr>
        </p:nvSpPr>
        <p:spPr>
          <a:xfrm>
            <a:off x="228225" y="1079450"/>
            <a:ext cx="2712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842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9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endParaRPr/>
          </a:p>
        </p:txBody>
      </p:sp>
      <p:sp>
        <p:nvSpPr>
          <p:cNvPr id="447" name="Google Shape;447;p49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&amp; Dataset</a:t>
            </a:r>
            <a:endParaRPr/>
          </a:p>
        </p:txBody>
      </p:sp>
      <p:sp>
        <p:nvSpPr>
          <p:cNvPr id="448" name="Google Shape;448;p49"/>
          <p:cNvSpPr txBox="1"/>
          <p:nvPr>
            <p:ph idx="2" type="title"/>
          </p:nvPr>
        </p:nvSpPr>
        <p:spPr>
          <a:xfrm>
            <a:off x="3154650" y="3487144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49" name="Google Shape;449;p49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Lost in Translation?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9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Machine Translation - NLLB-200</a:t>
            </a:r>
            <a:endParaRPr/>
          </a:p>
        </p:txBody>
      </p:sp>
      <p:sp>
        <p:nvSpPr>
          <p:cNvPr id="451" name="Google Shape;451;p49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Model - 1 - (Andrew)</a:t>
            </a:r>
            <a:endParaRPr/>
          </a:p>
        </p:txBody>
      </p:sp>
      <p:sp>
        <p:nvSpPr>
          <p:cNvPr id="452" name="Google Shape;452;p49"/>
          <p:cNvSpPr txBox="1"/>
          <p:nvPr>
            <p:ph idx="7" type="title"/>
          </p:nvPr>
        </p:nvSpPr>
        <p:spPr>
          <a:xfrm>
            <a:off x="3809850" y="25994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Model - 2 - (Aditya)</a:t>
            </a:r>
            <a:endParaRPr/>
          </a:p>
        </p:txBody>
      </p:sp>
      <p:sp>
        <p:nvSpPr>
          <p:cNvPr id="453" name="Google Shape;453;p49"/>
          <p:cNvSpPr txBox="1"/>
          <p:nvPr>
            <p:ph idx="8" type="title"/>
          </p:nvPr>
        </p:nvSpPr>
        <p:spPr>
          <a:xfrm>
            <a:off x="3809850" y="3043269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Model - 3 - (Shamsvi)</a:t>
            </a:r>
            <a:endParaRPr/>
          </a:p>
        </p:txBody>
      </p:sp>
      <p:sp>
        <p:nvSpPr>
          <p:cNvPr id="454" name="Google Shape;454;p49"/>
          <p:cNvSpPr txBox="1"/>
          <p:nvPr>
            <p:ph idx="9" type="title"/>
          </p:nvPr>
        </p:nvSpPr>
        <p:spPr>
          <a:xfrm>
            <a:off x="3809850" y="3487144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Model - 4 - (Ab Basit Syed)</a:t>
            </a:r>
            <a:endParaRPr/>
          </a:p>
        </p:txBody>
      </p:sp>
      <p:sp>
        <p:nvSpPr>
          <p:cNvPr id="455" name="Google Shape;455;p49"/>
          <p:cNvSpPr txBox="1"/>
          <p:nvPr>
            <p:ph idx="13" type="title"/>
          </p:nvPr>
        </p:nvSpPr>
        <p:spPr>
          <a:xfrm>
            <a:off x="3154650" y="30436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56" name="Google Shape;456;p49"/>
          <p:cNvSpPr txBox="1"/>
          <p:nvPr>
            <p:ph idx="14" type="title"/>
          </p:nvPr>
        </p:nvSpPr>
        <p:spPr>
          <a:xfrm>
            <a:off x="3154650" y="2600081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57" name="Google Shape;457;p49"/>
          <p:cNvSpPr txBox="1"/>
          <p:nvPr>
            <p:ph idx="15" type="title"/>
          </p:nvPr>
        </p:nvSpPr>
        <p:spPr>
          <a:xfrm>
            <a:off x="3154650" y="21565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58" name="Google Shape;458;p49"/>
          <p:cNvSpPr txBox="1"/>
          <p:nvPr>
            <p:ph idx="16" type="title"/>
          </p:nvPr>
        </p:nvSpPr>
        <p:spPr>
          <a:xfrm>
            <a:off x="3154650" y="1713019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59" name="Google Shape;459;p49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60" name="Google Shape;460;p49"/>
          <p:cNvSpPr txBox="1"/>
          <p:nvPr/>
        </p:nvSpPr>
        <p:spPr>
          <a:xfrm>
            <a:off x="3747450" y="3930675"/>
            <a:ext cx="294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Model - 5 - (Vatsalya) &amp; </a:t>
            </a:r>
            <a:r>
              <a:rPr lang="en"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Summary</a:t>
            </a:r>
            <a:endParaRPr sz="1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1" name="Google Shape;461;p49"/>
          <p:cNvSpPr txBox="1"/>
          <p:nvPr>
            <p:ph idx="2" type="title"/>
          </p:nvPr>
        </p:nvSpPr>
        <p:spPr>
          <a:xfrm>
            <a:off x="3154650" y="3930669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0"/>
          <p:cNvSpPr txBox="1"/>
          <p:nvPr>
            <p:ph idx="4294967295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Lost in Translation?</a:t>
            </a:r>
            <a:endParaRPr/>
          </a:p>
        </p:txBody>
      </p:sp>
      <p:sp>
        <p:nvSpPr>
          <p:cNvPr id="467" name="Google Shape;467;p50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&amp; Dataset</a:t>
            </a:r>
            <a:endParaRPr/>
          </a:p>
        </p:txBody>
      </p:sp>
      <p:sp>
        <p:nvSpPr>
          <p:cNvPr id="468" name="Google Shape;468;p50"/>
          <p:cNvSpPr txBox="1"/>
          <p:nvPr>
            <p:ph idx="1" type="subTitle"/>
          </p:nvPr>
        </p:nvSpPr>
        <p:spPr>
          <a:xfrm>
            <a:off x="228600" y="3390625"/>
            <a:ext cx="5018400" cy="12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</a:pPr>
            <a:r>
              <a:rPr b="1" lang="en" sz="1000">
                <a:latin typeface="Jost"/>
                <a:ea typeface="Jost"/>
                <a:cs typeface="Jost"/>
                <a:sym typeface="Jost"/>
              </a:rPr>
              <a:t>SQuAD v2.0 Foundation</a:t>
            </a:r>
            <a:r>
              <a:rPr lang="en" sz="1000">
                <a:latin typeface="Jost"/>
                <a:ea typeface="Jost"/>
                <a:cs typeface="Jost"/>
                <a:sym typeface="Jost"/>
              </a:rPr>
              <a:t>: 130,319 training + 11,873 development samples from 442 Wikipedia articles, with 50% unanswerable questions requiring models to distinguish valid answers from impossible questions</a:t>
            </a:r>
            <a:endParaRPr sz="1000"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Jost"/>
              <a:ea typeface="Jost"/>
              <a:cs typeface="Jost"/>
              <a:sym typeface="Jos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</a:pPr>
            <a:r>
              <a:rPr b="1" lang="en" sz="1000">
                <a:latin typeface="Jost"/>
                <a:ea typeface="Jost"/>
                <a:cs typeface="Jost"/>
                <a:sym typeface="Jost"/>
              </a:rPr>
              <a:t>Translation Approach</a:t>
            </a:r>
            <a:r>
              <a:rPr lang="en" sz="1000">
                <a:latin typeface="Jost"/>
                <a:ea typeface="Jost"/>
                <a:cs typeface="Jost"/>
                <a:sym typeface="Jost"/>
              </a:rPr>
              <a:t>: NLLB-200 distilled 600M model translated all components (contexts, questions, answers, plausible answers) across Tamil, Hindi, Telugu, Kannada, and Urdu with language-specific batch processing (8-512 samples) and GPU optimization</a:t>
            </a:r>
            <a:endParaRPr sz="1000"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469" name="Google Shape;46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0225" y="2429650"/>
            <a:ext cx="3432598" cy="2546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6275" y="329224"/>
            <a:ext cx="2500500" cy="200203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0"/>
          <p:cNvSpPr txBox="1"/>
          <p:nvPr/>
        </p:nvSpPr>
        <p:spPr>
          <a:xfrm>
            <a:off x="228600" y="921900"/>
            <a:ext cx="50184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</a:pPr>
            <a:r>
              <a:rPr b="1"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Research Gap</a:t>
            </a:r>
            <a:r>
              <a:rPr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: SQuAD drove English QA to near-human performance, but systematic evaluation frameworks for Indic languages remain limited despite 800M+ speakers across morphologically rich language families (Dravidian, Indo-Aryan, Perso-Arabic script)</a:t>
            </a:r>
            <a:endParaRPr sz="1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</a:pPr>
            <a:r>
              <a:rPr b="1"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Our Approach</a:t>
            </a:r>
            <a:r>
              <a:rPr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: Comprehensive benchmarking of translated SQuAD v2.0 across 5 major Indic languages (Tamil, Hindi, Telugu, Kannada, Urdu) evaluating 5 state-of-the-art architectures (XLM-RoBERTa, LaBSE, MuRIL, Gemma2, mT5)</a:t>
            </a:r>
            <a:endParaRPr sz="1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</a:pPr>
            <a:r>
              <a:rPr b="1"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Research Objectives</a:t>
            </a:r>
            <a:r>
              <a:rPr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: Establish baseline performance metrics, quantify translation-induced degradation, and identify linguistic features (morphological complexity, script-specific issues, answer span alignment) that create barriers for cross-lingual QA systems</a:t>
            </a:r>
            <a:endParaRPr sz="1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Lost in Translation?</a:t>
            </a:r>
            <a:endParaRPr/>
          </a:p>
        </p:txBody>
      </p:sp>
      <p:sp>
        <p:nvSpPr>
          <p:cNvPr id="477" name="Google Shape;477;p51"/>
          <p:cNvSpPr txBox="1"/>
          <p:nvPr>
            <p:ph idx="3" type="title"/>
          </p:nvPr>
        </p:nvSpPr>
        <p:spPr>
          <a:xfrm>
            <a:off x="228600" y="457200"/>
            <a:ext cx="47637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Language Left Behind - 200 - Meta</a:t>
            </a:r>
            <a:endParaRPr/>
          </a:p>
        </p:txBody>
      </p:sp>
      <p:sp>
        <p:nvSpPr>
          <p:cNvPr id="478" name="Google Shape;478;p51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No Language Left Behind</a:t>
            </a:r>
            <a:endParaRPr/>
          </a:p>
        </p:txBody>
      </p:sp>
      <p:sp>
        <p:nvSpPr>
          <p:cNvPr id="479" name="Google Shape;479;p51"/>
          <p:cNvSpPr txBox="1"/>
          <p:nvPr>
            <p:ph idx="20" type="subTitle"/>
          </p:nvPr>
        </p:nvSpPr>
        <p:spPr>
          <a:xfrm>
            <a:off x="230075" y="1343550"/>
            <a:ext cx="4390500" cy="319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NLLB-200 Model: Meta's 600M parameter model for 200 languages, translating contexts, questions, answers, and plausible answers across all Indic target languages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Tamil: RTX 4070 8GB with 34-chunk thermal-safe strategy, batch 64, 30-35 hours runtime achieving 100% script coverage and 90%+ accuracy with 1.04-1.05x expansion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Kannada: 40GB GPU with FP16, batch 512, seq 512 tokens, 130,319 samples revealing agglutinative patterns (120 words English → 79 words Kannada)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Telugu: Shared 40GB GPU with Kannada, full translation completed, evaluation pending, pivoted to Gemma2 on Kannada due to resource constraints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Hindi: Google Colab T4 GPU, batch 8, seq 512, 130,319 samples with strong entity preservation and successful named entity transliteration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Urdu: eng_Latn→urd_Arab codes, PyTorch/Transformers pipeline, RTL challenges revealed (question truncation to 1-2 chars, 24% contexts &gt;800 chars)</a:t>
            </a:r>
            <a:endParaRPr sz="1000"/>
          </a:p>
        </p:txBody>
      </p:sp>
      <p:pic>
        <p:nvPicPr>
          <p:cNvPr id="480" name="Google Shape;48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700" y="1077625"/>
            <a:ext cx="4190101" cy="333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Lost in Translation?</a:t>
            </a:r>
            <a:endParaRPr/>
          </a:p>
        </p:txBody>
      </p:sp>
      <p:sp>
        <p:nvSpPr>
          <p:cNvPr id="486" name="Google Shape;486;p52"/>
          <p:cNvSpPr txBox="1"/>
          <p:nvPr>
            <p:ph idx="3" type="title"/>
          </p:nvPr>
        </p:nvSpPr>
        <p:spPr>
          <a:xfrm>
            <a:off x="228600" y="457200"/>
            <a:ext cx="4076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- 1 - XLM RoBERTa - Tamil</a:t>
            </a:r>
            <a:endParaRPr/>
          </a:p>
        </p:txBody>
      </p:sp>
      <p:sp>
        <p:nvSpPr>
          <p:cNvPr id="487" name="Google Shape;487;p52"/>
          <p:cNvSpPr txBox="1"/>
          <p:nvPr>
            <p:ph idx="1" type="subTitle"/>
          </p:nvPr>
        </p:nvSpPr>
        <p:spPr>
          <a:xfrm>
            <a:off x="230075" y="882000"/>
            <a:ext cx="3716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Pre-processing and Modelling</a:t>
            </a:r>
            <a:endParaRPr/>
          </a:p>
        </p:txBody>
      </p:sp>
      <p:sp>
        <p:nvSpPr>
          <p:cNvPr id="488" name="Google Shape;488;p52"/>
          <p:cNvSpPr txBox="1"/>
          <p:nvPr>
            <p:ph idx="4" type="body"/>
          </p:nvPr>
        </p:nvSpPr>
        <p:spPr>
          <a:xfrm>
            <a:off x="228600" y="1391375"/>
            <a:ext cx="4244700" cy="291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/>
              <a:t>Thermal-Safe Pipeline</a:t>
            </a:r>
            <a:r>
              <a:rPr lang="en" sz="1200"/>
              <a:t>: 34-chunk translation strategy with 15-min cooling breaks, 30-35 hours runtime on RTX 4070 8GB GPU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/>
              <a:t>Translation Quality</a:t>
            </a:r>
            <a:r>
              <a:rPr lang="en" sz="1200"/>
              <a:t>: 100% Tamil script coverage, 90%+ accuracy, consistent 1.04-1.05x length expansion ratio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/>
              <a:t>Model Architecture</a:t>
            </a:r>
            <a:r>
              <a:rPr lang="en" sz="1200"/>
              <a:t>: XLM-RoBERTa-base 270M parameters pretrained on 100 languages with limited Tamil exposure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/>
              <a:t>Training Configuration</a:t>
            </a:r>
            <a:r>
              <a:rPr lang="en" sz="1200"/>
              <a:t>: 3 epochs, learning rate 5×10⁻⁵, batch size 16, AdamW optimizer with linear scheduling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Critical Preprocessing</a:t>
            </a:r>
            <a:r>
              <a:rPr lang="en" sz="1200"/>
              <a:t>: find_answer_position() function for character-level start positions, JSON format conversion maintaining article-paragraph-QA hierarchies</a:t>
            </a:r>
            <a:endParaRPr b="1" sz="1200"/>
          </a:p>
        </p:txBody>
      </p:sp>
      <p:sp>
        <p:nvSpPr>
          <p:cNvPr id="489" name="Google Shape;489;p52"/>
          <p:cNvSpPr txBox="1"/>
          <p:nvPr/>
        </p:nvSpPr>
        <p:spPr>
          <a:xfrm>
            <a:off x="4723175" y="2526425"/>
            <a:ext cx="42447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Performance Asymmetry: 14.87% F1 on answerable vs 78.28% on unanswerable questions (63-point gap), with 64.67% false negative rate and conservative "no answer" bias</a:t>
            </a:r>
            <a:endParaRPr sz="11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Length-Dependent Degradation: Performance drops from 26.5% F1 for short answers (1-10 chars) to near-zero for long answers (100+ chars), and from 15.7% F1 for short contexts to 7.2% for long contexts</a:t>
            </a:r>
            <a:endParaRPr sz="11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Root Cause Discovery: 23% of translated answers don't exist as exact substrings in contexts due to independent translation creating morphological mismatches—explaining the learned conservative behavior</a:t>
            </a:r>
            <a:endParaRPr sz="11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490" name="Google Shape;49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175" y="612375"/>
            <a:ext cx="4351560" cy="152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3"/>
          <p:cNvSpPr/>
          <p:nvPr/>
        </p:nvSpPr>
        <p:spPr>
          <a:xfrm>
            <a:off x="2435534" y="1620000"/>
            <a:ext cx="2075400" cy="32478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96" name="Google Shape;496;p53"/>
          <p:cNvSpPr/>
          <p:nvPr/>
        </p:nvSpPr>
        <p:spPr>
          <a:xfrm>
            <a:off x="6840001" y="1620000"/>
            <a:ext cx="2075400" cy="32478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97" name="Google Shape;497;p53"/>
          <p:cNvSpPr/>
          <p:nvPr/>
        </p:nvSpPr>
        <p:spPr>
          <a:xfrm>
            <a:off x="233300" y="1060850"/>
            <a:ext cx="2075400" cy="32478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98" name="Google Shape;498;p53"/>
          <p:cNvSpPr/>
          <p:nvPr/>
        </p:nvSpPr>
        <p:spPr>
          <a:xfrm>
            <a:off x="4637767" y="1060850"/>
            <a:ext cx="2075400" cy="32478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99" name="Google Shape;499;p5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SWOT</a:t>
            </a:r>
            <a:endParaRPr/>
          </a:p>
        </p:txBody>
      </p:sp>
      <p:sp>
        <p:nvSpPr>
          <p:cNvPr id="500" name="Google Shape;500;p5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Lost in Translation?</a:t>
            </a:r>
            <a:endParaRPr/>
          </a:p>
        </p:txBody>
      </p:sp>
      <p:sp>
        <p:nvSpPr>
          <p:cNvPr id="501" name="Google Shape;501;p5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Inference, Insights &amp; Results</a:t>
            </a:r>
            <a:endParaRPr/>
          </a:p>
        </p:txBody>
      </p:sp>
      <p:sp>
        <p:nvSpPr>
          <p:cNvPr id="502" name="Google Shape;502;p53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STRENGTHS</a:t>
            </a:r>
            <a:endParaRPr/>
          </a:p>
        </p:txBody>
      </p:sp>
      <p:sp>
        <p:nvSpPr>
          <p:cNvPr id="503" name="Google Shape;503;p53"/>
          <p:cNvSpPr txBox="1"/>
          <p:nvPr>
            <p:ph idx="5" type="body"/>
          </p:nvPr>
        </p:nvSpPr>
        <p:spPr>
          <a:xfrm>
            <a:off x="4833825" y="1801500"/>
            <a:ext cx="1683300" cy="288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SzPts val="950"/>
              <a:buChar char="⟶"/>
            </a:pPr>
            <a:r>
              <a:rPr lang="en" sz="950"/>
              <a:t>Post-processing fixes: fuzzy matching (85% threshold) could recover 15-20% misaligned answers</a:t>
            </a:r>
            <a:endParaRPr sz="950"/>
          </a:p>
          <a:p>
            <a:pPr indent="-288925" lvl="0" marL="457200" rtl="0" algn="l">
              <a:spcBef>
                <a:spcPts val="1000"/>
              </a:spcBef>
              <a:spcAft>
                <a:spcPts val="0"/>
              </a:spcAft>
              <a:buSzPts val="950"/>
              <a:buChar char="⟶"/>
            </a:pPr>
            <a:r>
              <a:rPr lang="en" sz="950"/>
              <a:t>Language-specific models: Tamil-aware tokenization, Dravidian language pretraining</a:t>
            </a:r>
            <a:endParaRPr sz="950"/>
          </a:p>
          <a:p>
            <a:pPr indent="-288925" lvl="0" marL="457200" rtl="0" algn="l">
              <a:spcBef>
                <a:spcPts val="1000"/>
              </a:spcBef>
              <a:spcAft>
                <a:spcPts val="1000"/>
              </a:spcAft>
              <a:buSzPts val="950"/>
              <a:buChar char="⟶"/>
            </a:pPr>
            <a:r>
              <a:rPr lang="en" sz="950"/>
              <a:t>Alternative approaches: generative QA, character-level modeling, hybrid semantic+span extraction</a:t>
            </a:r>
            <a:endParaRPr sz="950"/>
          </a:p>
        </p:txBody>
      </p:sp>
      <p:sp>
        <p:nvSpPr>
          <p:cNvPr id="504" name="Google Shape;504;p53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505" name="Google Shape;505;p53"/>
          <p:cNvSpPr txBox="1"/>
          <p:nvPr>
            <p:ph idx="7" type="body"/>
          </p:nvPr>
        </p:nvSpPr>
        <p:spPr>
          <a:xfrm>
            <a:off x="2631600" y="2360650"/>
            <a:ext cx="1683300" cy="25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SzPts val="950"/>
              <a:buChar char="⟶"/>
            </a:pPr>
            <a:r>
              <a:rPr lang="en" sz="950"/>
              <a:t>Critical answer extraction failure (14.87% F1 answerable, 64.67% false negative rate)</a:t>
            </a:r>
            <a:endParaRPr sz="950"/>
          </a:p>
          <a:p>
            <a:pPr indent="-288925" lvl="0" marL="457200" rtl="0" algn="l">
              <a:spcBef>
                <a:spcPts val="1000"/>
              </a:spcBef>
              <a:spcAft>
                <a:spcPts val="0"/>
              </a:spcAft>
              <a:buSzPts val="950"/>
              <a:buChar char="⟶"/>
            </a:pPr>
            <a:r>
              <a:rPr lang="en" sz="950"/>
              <a:t>Translation misalignment: 23% answers don't exist as exact substrings in contexts</a:t>
            </a:r>
            <a:endParaRPr sz="950"/>
          </a:p>
          <a:p>
            <a:pPr indent="-288925" lvl="0" marL="457200" rtl="0" algn="l">
              <a:spcBef>
                <a:spcPts val="1000"/>
              </a:spcBef>
              <a:spcAft>
                <a:spcPts val="1000"/>
              </a:spcAft>
              <a:buSzPts val="950"/>
              <a:buChar char="⟶"/>
            </a:pPr>
            <a:r>
              <a:rPr lang="en" sz="950"/>
              <a:t>Limited Tamil exposure in XLM-RoBERTa pretraining, struggles with agglutinative morphology</a:t>
            </a:r>
            <a:endParaRPr sz="950"/>
          </a:p>
        </p:txBody>
      </p:sp>
      <p:sp>
        <p:nvSpPr>
          <p:cNvPr id="506" name="Google Shape;506;p53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WEAKNESSES</a:t>
            </a:r>
            <a:endParaRPr/>
          </a:p>
        </p:txBody>
      </p:sp>
      <p:sp>
        <p:nvSpPr>
          <p:cNvPr id="507" name="Google Shape;507;p53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SzPts val="950"/>
              <a:buChar char="⟶"/>
            </a:pPr>
            <a:r>
              <a:rPr lang="en" sz="950"/>
              <a:t>Data quality ceiling: 23% broken examples create performance upper bound</a:t>
            </a:r>
            <a:endParaRPr sz="950"/>
          </a:p>
          <a:p>
            <a:pPr indent="-288925" lvl="0" marL="457200" rtl="0" algn="l">
              <a:spcBef>
                <a:spcPts val="1000"/>
              </a:spcBef>
              <a:spcAft>
                <a:spcPts val="0"/>
              </a:spcAft>
              <a:buSzPts val="950"/>
              <a:buChar char="⟶"/>
            </a:pPr>
            <a:r>
              <a:rPr lang="en" sz="950"/>
              <a:t>Morphological complexity: Tamil agglutination creates systematic tokenization challenges</a:t>
            </a:r>
            <a:endParaRPr sz="950"/>
          </a:p>
          <a:p>
            <a:pPr indent="-288925" lvl="0" marL="457200" rtl="0" algn="l">
              <a:spcBef>
                <a:spcPts val="1000"/>
              </a:spcBef>
              <a:spcAft>
                <a:spcPts val="1000"/>
              </a:spcAft>
              <a:buSzPts val="950"/>
              <a:buChar char="⟶"/>
            </a:pPr>
            <a:r>
              <a:rPr lang="en" sz="950"/>
              <a:t>Low-resource limitations: Tamil underrepresented in multilingual models, NLLB-200 translation bottlenecks</a:t>
            </a:r>
            <a:endParaRPr sz="950"/>
          </a:p>
        </p:txBody>
      </p:sp>
      <p:sp>
        <p:nvSpPr>
          <p:cNvPr id="508" name="Google Shape;508;p53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THREATS</a:t>
            </a:r>
            <a:endParaRPr/>
          </a:p>
        </p:txBody>
      </p:sp>
      <p:sp>
        <p:nvSpPr>
          <p:cNvPr id="509" name="Google Shape;509;p53"/>
          <p:cNvSpPr txBox="1"/>
          <p:nvPr>
            <p:ph idx="1" type="body"/>
          </p:nvPr>
        </p:nvSpPr>
        <p:spPr>
          <a:xfrm>
            <a:off x="429350" y="1801500"/>
            <a:ext cx="1683300" cy="23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174625" lvl="0" marL="285750" rtl="0" algn="l">
              <a:spcBef>
                <a:spcPts val="0"/>
              </a:spcBef>
              <a:spcAft>
                <a:spcPts val="0"/>
              </a:spcAft>
              <a:buSzPts val="950"/>
              <a:buChar char="⟶"/>
            </a:pPr>
            <a:r>
              <a:rPr lang="en" sz="950"/>
              <a:t>Strong unanswerable question performance (78.28% F1, 100% precision)</a:t>
            </a:r>
            <a:endParaRPr sz="950"/>
          </a:p>
          <a:p>
            <a:pPr indent="-174625" lvl="0" marL="285750" rtl="0" algn="l">
              <a:spcBef>
                <a:spcPts val="1000"/>
              </a:spcBef>
              <a:spcAft>
                <a:spcPts val="0"/>
              </a:spcAft>
              <a:buSzPts val="950"/>
              <a:buChar char="⟶"/>
            </a:pPr>
            <a:r>
              <a:rPr lang="en" sz="950"/>
              <a:t>Root cause identified: 23% answer misalignment from independent translation</a:t>
            </a:r>
            <a:endParaRPr sz="950"/>
          </a:p>
          <a:p>
            <a:pPr indent="-174625" lvl="0" marL="285750" rtl="0" algn="l">
              <a:spcBef>
                <a:spcPts val="1000"/>
              </a:spcBef>
              <a:spcAft>
                <a:spcPts val="1000"/>
              </a:spcAft>
              <a:buSzPts val="950"/>
              <a:buChar char="⟶"/>
            </a:pPr>
            <a:r>
              <a:rPr lang="en" sz="950"/>
              <a:t>Comprehensive performance documentation across question types, answer lengths, context lengths</a:t>
            </a:r>
            <a:endParaRPr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4"/>
          <p:cNvSpPr txBox="1"/>
          <p:nvPr>
            <p:ph idx="4" type="body"/>
          </p:nvPr>
        </p:nvSpPr>
        <p:spPr>
          <a:xfrm>
            <a:off x="213600" y="859525"/>
            <a:ext cx="4311600" cy="40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/>
              <a:t>Translation Methodology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Infrastructure Setup</a:t>
            </a:r>
            <a:endParaRPr b="1" sz="1200"/>
          </a:p>
          <a:p>
            <a:pPr indent="-2879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NLLB-200 Distilled 600M model</a:t>
            </a:r>
            <a:endParaRPr sz="1200"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40GB NVIDIA A100 GPU</a:t>
            </a:r>
            <a:endParaRPr sz="1200"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Batch size: 512 samples</a:t>
            </a:r>
            <a:endParaRPr sz="1200"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FP16 mixed-precision inference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Max sequence length: </a:t>
            </a:r>
            <a:r>
              <a:rPr lang="en" sz="1200"/>
              <a:t>512 tokens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Translation Scope</a:t>
            </a:r>
            <a:endParaRPr b="1" sz="1200"/>
          </a:p>
          <a:p>
            <a:pPr indent="-2879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130,319 training samples translated</a:t>
            </a:r>
            <a:endParaRPr sz="1200"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Four components per sample:</a:t>
            </a:r>
            <a:endParaRPr sz="1200"/>
          </a:p>
          <a:p>
            <a:pPr indent="-28797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○"/>
            </a:pPr>
            <a:r>
              <a:rPr lang="en" sz="1200"/>
              <a:t>Context passages</a:t>
            </a:r>
            <a:endParaRPr sz="1200"/>
          </a:p>
          <a:p>
            <a:pPr indent="-28797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○"/>
            </a:pPr>
            <a:r>
              <a:rPr lang="en" sz="1200"/>
              <a:t>Questions</a:t>
            </a:r>
            <a:endParaRPr sz="1200"/>
          </a:p>
          <a:p>
            <a:pPr indent="-28797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○"/>
            </a:pPr>
            <a:r>
              <a:rPr lang="en" sz="1200"/>
              <a:t>Answer texts</a:t>
            </a:r>
            <a:endParaRPr sz="1200"/>
          </a:p>
          <a:p>
            <a:pPr indent="-28797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○"/>
            </a:pPr>
            <a:r>
              <a:rPr lang="en" sz="1200"/>
              <a:t>Plausible answers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Quality Validation</a:t>
            </a:r>
            <a:endParaRPr b="1" sz="1200"/>
          </a:p>
          <a:p>
            <a:pPr indent="-28797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Preserved 66.62% answerable / 33.38% unanswerable distribution</a:t>
            </a:r>
            <a:endParaRPr sz="1200"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No pathological length expansion</a:t>
            </a:r>
            <a:endParaRPr sz="1200"/>
          </a:p>
          <a:p>
            <a:pPr indent="-28797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High semantic fidelity maintained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515" name="Google Shape;515;p5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Lost in Translation?</a:t>
            </a:r>
            <a:endParaRPr/>
          </a:p>
        </p:txBody>
      </p:sp>
      <p:sp>
        <p:nvSpPr>
          <p:cNvPr id="516" name="Google Shape;516;p54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- 2 - MuRIL - Kannada</a:t>
            </a:r>
            <a:endParaRPr/>
          </a:p>
        </p:txBody>
      </p:sp>
      <p:sp>
        <p:nvSpPr>
          <p:cNvPr id="517" name="Google Shape;517;p54"/>
          <p:cNvSpPr txBox="1"/>
          <p:nvPr>
            <p:ph idx="4" type="body"/>
          </p:nvPr>
        </p:nvSpPr>
        <p:spPr>
          <a:xfrm>
            <a:off x="4770525" y="116900"/>
            <a:ext cx="4311600" cy="479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</a:rPr>
              <a:t>Linguistic Patterns Discovered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</a:rPr>
              <a:t>Word vs Character Compression</a:t>
            </a:r>
            <a:endParaRPr b="1"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chemeClr val="lt1"/>
                </a:solidFill>
              </a:rPr>
              <a:t>Contexts: 120 words (EN) → 79 words (KN) [34% reduction]</a:t>
            </a:r>
            <a:endParaRPr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chemeClr val="lt1"/>
                </a:solidFill>
              </a:rPr>
              <a:t>But: 755 chars (EN) → 684 chars (KN) [only 9% reduction]</a:t>
            </a:r>
            <a:endParaRPr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chemeClr val="lt1"/>
                </a:solidFill>
              </a:rPr>
              <a:t>Insight: Kannada uses longer compound words with extensive suffixation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</a:rPr>
              <a:t>Question Translation</a:t>
            </a:r>
            <a:endParaRPr b="1"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chemeClr val="lt1"/>
                </a:solidFill>
              </a:rPr>
              <a:t>10 words (EN) → 7 words (KN)</a:t>
            </a:r>
            <a:endParaRPr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chemeClr val="lt1"/>
                </a:solidFill>
              </a:rPr>
              <a:t>Character length nearly identical: 58.5 vs 57.7</a:t>
            </a:r>
            <a:endParaRPr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chemeClr val="lt1"/>
                </a:solidFill>
              </a:rPr>
              <a:t>Demonstrates morphological compactness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</a:rPr>
              <a:t>Answer Consistency</a:t>
            </a:r>
            <a:endParaRPr b="1"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chemeClr val="lt1"/>
                </a:solidFill>
              </a:rPr>
              <a:t>Character length stable: ~13-14 chars in both languages</a:t>
            </a:r>
            <a:endParaRPr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chemeClr val="lt1"/>
                </a:solidFill>
              </a:rPr>
              <a:t>Factual answers remain concise across languages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</a:rPr>
              <a:t>Morphological Challenge</a:t>
            </a:r>
            <a:endParaRPr b="1"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chemeClr val="lt1"/>
                </a:solidFill>
              </a:rPr>
              <a:t>Single Kannada word = multi-word English phrase</a:t>
            </a:r>
            <a:endParaRPr sz="12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200">
                <a:solidFill>
                  <a:schemeClr val="lt1"/>
                </a:solidFill>
              </a:rPr>
              <a:t>Example: "ಕರ್ನಾಟಕದಲ್ಲಿ" = "in Karnataka"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5"/>
          <p:cNvSpPr/>
          <p:nvPr/>
        </p:nvSpPr>
        <p:spPr>
          <a:xfrm>
            <a:off x="2435534" y="1620000"/>
            <a:ext cx="2075400" cy="32478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23" name="Google Shape;523;p55"/>
          <p:cNvSpPr/>
          <p:nvPr/>
        </p:nvSpPr>
        <p:spPr>
          <a:xfrm>
            <a:off x="6840001" y="1620000"/>
            <a:ext cx="2075400" cy="32478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24" name="Google Shape;524;p55"/>
          <p:cNvSpPr/>
          <p:nvPr/>
        </p:nvSpPr>
        <p:spPr>
          <a:xfrm>
            <a:off x="233300" y="1060850"/>
            <a:ext cx="2075400" cy="32478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25" name="Google Shape;525;p55"/>
          <p:cNvSpPr/>
          <p:nvPr/>
        </p:nvSpPr>
        <p:spPr>
          <a:xfrm>
            <a:off x="4637767" y="1060850"/>
            <a:ext cx="2075400" cy="32478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26" name="Google Shape;526;p5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SWOT</a:t>
            </a:r>
            <a:endParaRPr/>
          </a:p>
        </p:txBody>
      </p:sp>
      <p:sp>
        <p:nvSpPr>
          <p:cNvPr id="527" name="Google Shape;527;p5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Lost in Translation?</a:t>
            </a:r>
            <a:endParaRPr/>
          </a:p>
        </p:txBody>
      </p:sp>
      <p:sp>
        <p:nvSpPr>
          <p:cNvPr id="528" name="Google Shape;528;p5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Inference, Insights &amp; Results</a:t>
            </a:r>
            <a:endParaRPr/>
          </a:p>
        </p:txBody>
      </p:sp>
      <p:sp>
        <p:nvSpPr>
          <p:cNvPr id="529" name="Google Shape;529;p55"/>
          <p:cNvSpPr txBox="1"/>
          <p:nvPr>
            <p:ph idx="1" type="body"/>
          </p:nvPr>
        </p:nvSpPr>
        <p:spPr>
          <a:xfrm>
            <a:off x="429350" y="1148275"/>
            <a:ext cx="1683300" cy="31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200"/>
              <a:t>Model Performance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English Model (MuRIL)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Exact Match: 64.95%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F1 Score: 79.10%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Kannada Model (MuRIL)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Exact Match: 40.21%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F1 Score: 55.97%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Performance Gap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EM Drop: 24.74%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F1 Drop: 23.13%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Test Set Size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English: 13,023 samples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Kannada: 5,422 samples</a:t>
            </a:r>
            <a:endParaRPr sz="1200"/>
          </a:p>
        </p:txBody>
      </p:sp>
      <p:sp>
        <p:nvSpPr>
          <p:cNvPr id="530" name="Google Shape;530;p55"/>
          <p:cNvSpPr txBox="1"/>
          <p:nvPr>
            <p:ph idx="1" type="body"/>
          </p:nvPr>
        </p:nvSpPr>
        <p:spPr>
          <a:xfrm>
            <a:off x="2631588" y="1707600"/>
            <a:ext cx="1683300" cy="31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200"/>
              <a:t>Question Length Analysis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Short Questions (0-5 words)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English: 58.2%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Kannada: 38.7%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Gap: 19.5%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Medium Questions (6-10 words)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English: 60.0%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Kannada: 40.5%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Gap: 19.5%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Long Questions (20+ words)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English: 53.8%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Kannada: 33.3%</a:t>
            </a:r>
            <a:endParaRPr sz="1200"/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Gap: 20.5%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Key Finding: Consistent ~20% gap across all lengths</a:t>
            </a:r>
            <a:endParaRPr sz="1200"/>
          </a:p>
        </p:txBody>
      </p:sp>
      <p:sp>
        <p:nvSpPr>
          <p:cNvPr id="531" name="Google Shape;531;p55"/>
          <p:cNvSpPr txBox="1"/>
          <p:nvPr>
            <p:ph idx="1" type="body"/>
          </p:nvPr>
        </p:nvSpPr>
        <p:spPr>
          <a:xfrm>
            <a:off x="4833800" y="1148275"/>
            <a:ext cx="1683300" cy="31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200"/>
              <a:t>Error Patterns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English Model Errors</a:t>
            </a:r>
            <a:endParaRPr sz="1200"/>
          </a:p>
          <a:p>
            <a:pPr indent="-2774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Boundary errors: 35%</a:t>
            </a:r>
            <a:endParaRPr sz="1200"/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Semantic confusion: 28%</a:t>
            </a:r>
            <a:endParaRPr sz="1200"/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Unanswerable detection: 22%</a:t>
            </a:r>
            <a:endParaRPr sz="1200"/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Other: 15%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Kannada Model Errors</a:t>
            </a:r>
            <a:endParaRPr sz="1200"/>
          </a:p>
          <a:p>
            <a:pPr indent="-2774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Complete misalignment: 42%</a:t>
            </a:r>
            <a:endParaRPr sz="1200"/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Tokenization issues: 23%</a:t>
            </a:r>
            <a:endParaRPr sz="1200"/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Unanswerable detection: 20%</a:t>
            </a:r>
            <a:endParaRPr sz="1200"/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Morphological variation: 15%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Critical Issue: 42% complete misalignment suggests fundamental encoding problems</a:t>
            </a:r>
            <a:endParaRPr sz="1200"/>
          </a:p>
        </p:txBody>
      </p:sp>
      <p:sp>
        <p:nvSpPr>
          <p:cNvPr id="532" name="Google Shape;532;p55"/>
          <p:cNvSpPr txBox="1"/>
          <p:nvPr>
            <p:ph idx="1" type="body"/>
          </p:nvPr>
        </p:nvSpPr>
        <p:spPr>
          <a:xfrm>
            <a:off x="7036050" y="1757700"/>
            <a:ext cx="1683300" cy="31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5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200"/>
              <a:t>Key Challenges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Morphological Complexity</a:t>
            </a:r>
            <a:endParaRPr sz="1200"/>
          </a:p>
          <a:p>
            <a:pPr indent="-26701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Agglutinative word formation</a:t>
            </a:r>
            <a:endParaRPr sz="1200"/>
          </a:p>
          <a:p>
            <a:pPr indent="-2670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Tokenizer fragments compounds</a:t>
            </a:r>
            <a:endParaRPr sz="1200"/>
          </a:p>
          <a:p>
            <a:pPr indent="-2670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Disrupts semantic coherence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Translation Drift</a:t>
            </a:r>
            <a:endParaRPr sz="1200"/>
          </a:p>
          <a:p>
            <a:pPr indent="-26701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8-12% proper nouns mistranslated</a:t>
            </a:r>
            <a:endParaRPr sz="1200"/>
          </a:p>
          <a:p>
            <a:pPr indent="-2670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"Queen Victoria" → "ರಾಣಿ ವಿಕ್ಟೋರಿಯಾ" (adds title)</a:t>
            </a:r>
            <a:endParaRPr sz="1200"/>
          </a:p>
          <a:p>
            <a:pPr indent="-2670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Numerical formatting variations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Syntactic Differences</a:t>
            </a:r>
            <a:endParaRPr sz="1200"/>
          </a:p>
          <a:p>
            <a:pPr indent="-26701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Different interrogative structures</a:t>
            </a:r>
            <a:endParaRPr sz="1200"/>
          </a:p>
          <a:p>
            <a:pPr indent="-2670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Question particles &amp; verbal inflections</a:t>
            </a:r>
            <a:endParaRPr sz="1200"/>
          </a:p>
          <a:p>
            <a:pPr indent="-26701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Char char="●"/>
            </a:pPr>
            <a:r>
              <a:rPr lang="en" sz="1200"/>
              <a:t>Cannot transfer English attention patterns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Implication: Linguistic distance matters more than dataset size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Lost in Translation?</a:t>
            </a:r>
            <a:endParaRPr/>
          </a:p>
        </p:txBody>
      </p:sp>
      <p:sp>
        <p:nvSpPr>
          <p:cNvPr id="538" name="Google Shape;538;p56"/>
          <p:cNvSpPr txBox="1"/>
          <p:nvPr>
            <p:ph idx="3" type="title"/>
          </p:nvPr>
        </p:nvSpPr>
        <p:spPr>
          <a:xfrm>
            <a:off x="228600" y="457200"/>
            <a:ext cx="3948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- 3 - Gemma2 - Kannada</a:t>
            </a:r>
            <a:endParaRPr/>
          </a:p>
        </p:txBody>
      </p:sp>
      <p:sp>
        <p:nvSpPr>
          <p:cNvPr id="539" name="Google Shape;539;p56"/>
          <p:cNvSpPr txBox="1"/>
          <p:nvPr>
            <p:ph idx="1" type="subTitle"/>
          </p:nvPr>
        </p:nvSpPr>
        <p:spPr>
          <a:xfrm>
            <a:off x="230075" y="882000"/>
            <a:ext cx="3716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Pre-processing</a:t>
            </a:r>
            <a:endParaRPr/>
          </a:p>
        </p:txBody>
      </p:sp>
      <p:sp>
        <p:nvSpPr>
          <p:cNvPr id="540" name="Google Shape;540;p56"/>
          <p:cNvSpPr txBox="1"/>
          <p:nvPr>
            <p:ph idx="4" type="body"/>
          </p:nvPr>
        </p:nvSpPr>
        <p:spPr>
          <a:xfrm>
            <a:off x="213600" y="1218100"/>
            <a:ext cx="3462600" cy="3334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Started with 130k bilingual SQuAD-style examples (English + Kannada translations).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Filtered out impossible questions and created instruction-style prompts for both languages.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English format: “You are a helpful assistant… Context… Question… Answer…”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Kannada format mirrored the same structure in native script, ensuring cultural/linguistic fidelity.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Tokenized using Gemma tokenizer (SPM) at max length 512; EOS token substituted as padding.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Final training set: 138,821 instruction samples (English + Kannada combined).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6"/>
          <p:cNvSpPr txBox="1"/>
          <p:nvPr>
            <p:ph idx="1" type="subTitle"/>
          </p:nvPr>
        </p:nvSpPr>
        <p:spPr>
          <a:xfrm>
            <a:off x="4831200" y="180000"/>
            <a:ext cx="3716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Modelling</a:t>
            </a:r>
            <a:endParaRPr/>
          </a:p>
        </p:txBody>
      </p:sp>
      <p:sp>
        <p:nvSpPr>
          <p:cNvPr id="542" name="Google Shape;542;p56"/>
          <p:cNvSpPr txBox="1"/>
          <p:nvPr>
            <p:ph idx="4" type="body"/>
          </p:nvPr>
        </p:nvSpPr>
        <p:spPr>
          <a:xfrm>
            <a:off x="4618950" y="644600"/>
            <a:ext cx="4524900" cy="279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Base model: Gemma-2B-IT, an instruction-tuned decoder LLM.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Used LoRA fine-tuning targeting q/k/v/o projection layers → only 0.24% trainable parameters (~6.38M).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Training setup: 2 epochs, LR = 2e-5, BF16 on A100, cosine LR schedule, gradient accumulation (effective batch = 16).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Created bilingual model capable of answering questions in both English and Kannada using the same instruction framework.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Inference optimized using greedy decoding + caching, reducing evaluation time significantly.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250" y="3243900"/>
            <a:ext cx="2943274" cy="17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7"/>
          <p:cNvSpPr/>
          <p:nvPr/>
        </p:nvSpPr>
        <p:spPr>
          <a:xfrm>
            <a:off x="2435550" y="1060850"/>
            <a:ext cx="2075400" cy="35226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49" name="Google Shape;549;p57"/>
          <p:cNvSpPr/>
          <p:nvPr/>
        </p:nvSpPr>
        <p:spPr>
          <a:xfrm>
            <a:off x="6840000" y="1060850"/>
            <a:ext cx="2075400" cy="35226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50" name="Google Shape;550;p57"/>
          <p:cNvSpPr/>
          <p:nvPr/>
        </p:nvSpPr>
        <p:spPr>
          <a:xfrm>
            <a:off x="233300" y="1060850"/>
            <a:ext cx="2075400" cy="35226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51" name="Google Shape;551;p57"/>
          <p:cNvSpPr/>
          <p:nvPr/>
        </p:nvSpPr>
        <p:spPr>
          <a:xfrm>
            <a:off x="4637775" y="1060850"/>
            <a:ext cx="2075400" cy="35226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52" name="Google Shape;552;p5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SWOT</a:t>
            </a:r>
            <a:endParaRPr/>
          </a:p>
        </p:txBody>
      </p:sp>
      <p:sp>
        <p:nvSpPr>
          <p:cNvPr id="553" name="Google Shape;553;p5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Lost in Translation?</a:t>
            </a:r>
            <a:endParaRPr/>
          </a:p>
        </p:txBody>
      </p:sp>
      <p:sp>
        <p:nvSpPr>
          <p:cNvPr id="554" name="Google Shape;554;p57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Inference, Insights &amp; Results</a:t>
            </a:r>
            <a:endParaRPr/>
          </a:p>
        </p:txBody>
      </p:sp>
      <p:sp>
        <p:nvSpPr>
          <p:cNvPr id="555" name="Google Shape;555;p57"/>
          <p:cNvSpPr txBox="1"/>
          <p:nvPr>
            <p:ph idx="4" type="subTitle"/>
          </p:nvPr>
        </p:nvSpPr>
        <p:spPr>
          <a:xfrm>
            <a:off x="429375" y="1202575"/>
            <a:ext cx="16833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STRENGTHS</a:t>
            </a:r>
            <a:endParaRPr/>
          </a:p>
        </p:txBody>
      </p:sp>
      <p:sp>
        <p:nvSpPr>
          <p:cNvPr id="556" name="Google Shape;556;p57"/>
          <p:cNvSpPr txBox="1"/>
          <p:nvPr>
            <p:ph idx="5" type="body"/>
          </p:nvPr>
        </p:nvSpPr>
        <p:spPr>
          <a:xfrm>
            <a:off x="4833825" y="1700675"/>
            <a:ext cx="1683300" cy="28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MURIL is pretrained extensively on Indian-language corpora, including large volumes of Kannada text.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Designed as a BERT-style encoder → naturally suited for extractive QA with start–end span prediction.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 a vocabulary optimized for Indic scripts, producing cleaner subword segmentation.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 baseline representation for Dravidian languages → less drift and fewer hallucinations.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7"/>
          <p:cNvSpPr txBox="1"/>
          <p:nvPr>
            <p:ph idx="6" type="subTitle"/>
          </p:nvPr>
        </p:nvSpPr>
        <p:spPr>
          <a:xfrm>
            <a:off x="4833813" y="1157313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Why MURIL Performs Better for Kannada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8" name="Google Shape;558;p57"/>
          <p:cNvSpPr txBox="1"/>
          <p:nvPr>
            <p:ph idx="7" type="body"/>
          </p:nvPr>
        </p:nvSpPr>
        <p:spPr>
          <a:xfrm>
            <a:off x="2571750" y="1700700"/>
            <a:ext cx="1817100" cy="28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Very low Kannada performance (EM ≈ 0%, F1 ~9–12%).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Decoder-style generation → struggles to reproduce exact spans, causing low EM.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Tokenization mismatch: Gemma’s SentencePiece fragments Kannada words heavily → weak lexical grounding.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Tends to hallucinate or over-generate, especially for longer Kannada contexts.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Bilingual training biases the model heavily toward English.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7"/>
          <p:cNvSpPr txBox="1"/>
          <p:nvPr>
            <p:ph idx="8" type="subTitle"/>
          </p:nvPr>
        </p:nvSpPr>
        <p:spPr>
          <a:xfrm>
            <a:off x="2631575" y="1202575"/>
            <a:ext cx="16833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WEAKNESSES</a:t>
            </a:r>
            <a:endParaRPr/>
          </a:p>
        </p:txBody>
      </p:sp>
      <p:sp>
        <p:nvSpPr>
          <p:cNvPr id="560" name="Google Shape;560;p57"/>
          <p:cNvSpPr txBox="1"/>
          <p:nvPr>
            <p:ph idx="9" type="body"/>
          </p:nvPr>
        </p:nvSpPr>
        <p:spPr>
          <a:xfrm>
            <a:off x="7036075" y="1700675"/>
            <a:ext cx="1683300" cy="13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Gemma2 can be adapted to Kannada, but pretraining limitations + generative architecture restrict its extractive QA performance.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For Indian-language QA, especially Kannada, MURIL remains significantly stronger due to language-specific pretraining and architecture.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Future improvements: Kannada-only finetuning, tokenizer adaptation, or switching to multilingual encoder/seq2seq architectures (mT5, IndicBERT).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57"/>
          <p:cNvSpPr txBox="1"/>
          <p:nvPr>
            <p:ph idx="13" type="subTitle"/>
          </p:nvPr>
        </p:nvSpPr>
        <p:spPr>
          <a:xfrm>
            <a:off x="7036075" y="1175425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562" name="Google Shape;562;p57"/>
          <p:cNvSpPr txBox="1"/>
          <p:nvPr>
            <p:ph idx="7" type="body"/>
          </p:nvPr>
        </p:nvSpPr>
        <p:spPr>
          <a:xfrm>
            <a:off x="3889625" y="457200"/>
            <a:ext cx="3773700" cy="48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Gemma vs. MURIL: A Tale of Two Architectures</a:t>
            </a:r>
            <a:endParaRPr/>
          </a:p>
        </p:txBody>
      </p:sp>
      <p:sp>
        <p:nvSpPr>
          <p:cNvPr id="563" name="Google Shape;563;p57"/>
          <p:cNvSpPr txBox="1"/>
          <p:nvPr>
            <p:ph idx="1" type="body"/>
          </p:nvPr>
        </p:nvSpPr>
        <p:spPr>
          <a:xfrm>
            <a:off x="362950" y="1700700"/>
            <a:ext cx="1749600" cy="298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Shows moderate English performance (F1 ~25–28%), indicating good semantic alignment on extractive tasks.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Efficient training with parameter-efficient LoRA:  fast, stable, and resource-friendly.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Capable of generating context-aware, fluent answers even when ground-truth spans vary in structure.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Lost in Translation?</a:t>
            </a:r>
            <a:endParaRPr/>
          </a:p>
        </p:txBody>
      </p:sp>
      <p:sp>
        <p:nvSpPr>
          <p:cNvPr id="569" name="Google Shape;569;p58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- 4 - LaBSE - Hindi</a:t>
            </a:r>
            <a:endParaRPr/>
          </a:p>
        </p:txBody>
      </p:sp>
      <p:sp>
        <p:nvSpPr>
          <p:cNvPr id="570" name="Google Shape;570;p58"/>
          <p:cNvSpPr txBox="1"/>
          <p:nvPr>
            <p:ph idx="1" type="subTitle"/>
          </p:nvPr>
        </p:nvSpPr>
        <p:spPr>
          <a:xfrm>
            <a:off x="230075" y="882000"/>
            <a:ext cx="3716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Pre-processing and Modelling</a:t>
            </a:r>
            <a:endParaRPr/>
          </a:p>
        </p:txBody>
      </p:sp>
      <p:sp>
        <p:nvSpPr>
          <p:cNvPr id="571" name="Google Shape;571;p58"/>
          <p:cNvSpPr txBox="1"/>
          <p:nvPr/>
        </p:nvSpPr>
        <p:spPr>
          <a:xfrm>
            <a:off x="209175" y="1321525"/>
            <a:ext cx="4262700" cy="3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Pre-processing</a:t>
            </a:r>
            <a:endParaRPr b="1" sz="13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Translated all SQuAD contexts, questions, and answers into Hindi using </a:t>
            </a:r>
            <a:r>
              <a:rPr b="1"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NLLB-200 (600M)</a:t>
            </a: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Evaluated translation fidelity using </a:t>
            </a:r>
            <a:r>
              <a:rPr b="1"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LaBSE</a:t>
            </a: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, computing semantic similarity scores for English ↔ Hindi pairs.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○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Contexts = 0.865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○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Questions = 0.868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Used LaBSE scores to confirm that meaning was preserved before modelling.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Applied fuzzy span alignment to recover Hindi answer locations inside contexts.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Retained only high-quality, span-recoverable samples → </a:t>
            </a:r>
            <a:r>
              <a:rPr b="1"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77,016 train</a:t>
            </a: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and </a:t>
            </a:r>
            <a:r>
              <a:rPr b="1"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5,283 validation</a:t>
            </a: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examples.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Tokenized the dataset with </a:t>
            </a:r>
            <a:r>
              <a:rPr b="1"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XLM-R multilingual subword tokenizer</a:t>
            </a: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72" name="Google Shape;572;p58"/>
          <p:cNvSpPr txBox="1"/>
          <p:nvPr/>
        </p:nvSpPr>
        <p:spPr>
          <a:xfrm>
            <a:off x="4713000" y="139850"/>
            <a:ext cx="4202400" cy="2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Modelling</a:t>
            </a:r>
            <a:endParaRPr b="1" sz="13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Fine-tuned </a:t>
            </a:r>
            <a:r>
              <a:rPr b="1"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XLM-RoBERTa-base</a:t>
            </a: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as an extractive QA model predicting start/end answer spans.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Model trained only on LaBSE-validated, span-aligned Hindi samples.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Evaluated performance on clean Hindi dev samples with reliable span grounding.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○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Exact Match (EM): 12.30%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○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F1 Score: 26.55%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Showcased how translation structure influences extractive performance in multilingual QA.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73" name="Google Shape;573;p58" title="Screenshot 2025-11-24 at 10.55.2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2825" y="2746175"/>
            <a:ext cx="3249025" cy="22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9"/>
          <p:cNvSpPr/>
          <p:nvPr/>
        </p:nvSpPr>
        <p:spPr>
          <a:xfrm>
            <a:off x="2435525" y="1060850"/>
            <a:ext cx="2075400" cy="38070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79" name="Google Shape;579;p59"/>
          <p:cNvSpPr/>
          <p:nvPr/>
        </p:nvSpPr>
        <p:spPr>
          <a:xfrm>
            <a:off x="6818550" y="1038600"/>
            <a:ext cx="2075400" cy="38514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80" name="Google Shape;580;p59"/>
          <p:cNvSpPr/>
          <p:nvPr/>
        </p:nvSpPr>
        <p:spPr>
          <a:xfrm>
            <a:off x="233300" y="1060850"/>
            <a:ext cx="2075400" cy="38070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81" name="Google Shape;581;p59"/>
          <p:cNvSpPr/>
          <p:nvPr/>
        </p:nvSpPr>
        <p:spPr>
          <a:xfrm>
            <a:off x="4637775" y="1060850"/>
            <a:ext cx="2075400" cy="38070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82" name="Google Shape;582;p59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Inference, Insights &amp; Results</a:t>
            </a:r>
            <a:endParaRPr/>
          </a:p>
        </p:txBody>
      </p:sp>
      <p:sp>
        <p:nvSpPr>
          <p:cNvPr id="583" name="Google Shape;583;p59"/>
          <p:cNvSpPr txBox="1"/>
          <p:nvPr>
            <p:ph idx="4" type="subTitle"/>
          </p:nvPr>
        </p:nvSpPr>
        <p:spPr>
          <a:xfrm>
            <a:off x="437100" y="11883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/>
              <a:t>STRENGTHS</a:t>
            </a:r>
            <a:endParaRPr b="1"/>
          </a:p>
        </p:txBody>
      </p:sp>
      <p:sp>
        <p:nvSpPr>
          <p:cNvPr id="584" name="Google Shape;584;p59"/>
          <p:cNvSpPr txBox="1"/>
          <p:nvPr>
            <p:ph idx="6" type="subTitle"/>
          </p:nvPr>
        </p:nvSpPr>
        <p:spPr>
          <a:xfrm>
            <a:off x="4823075" y="11883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/>
              <a:t>OPPORTUNITIES</a:t>
            </a:r>
            <a:endParaRPr b="1"/>
          </a:p>
        </p:txBody>
      </p:sp>
      <p:sp>
        <p:nvSpPr>
          <p:cNvPr id="585" name="Google Shape;585;p59"/>
          <p:cNvSpPr txBox="1"/>
          <p:nvPr>
            <p:ph idx="8" type="subTitle"/>
          </p:nvPr>
        </p:nvSpPr>
        <p:spPr>
          <a:xfrm>
            <a:off x="2631575" y="11883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WEAKNESSES</a:t>
            </a:r>
            <a:endParaRPr b="1"/>
          </a:p>
        </p:txBody>
      </p:sp>
      <p:sp>
        <p:nvSpPr>
          <p:cNvPr id="586" name="Google Shape;586;p59"/>
          <p:cNvSpPr txBox="1"/>
          <p:nvPr>
            <p:ph idx="13" type="subTitle"/>
          </p:nvPr>
        </p:nvSpPr>
        <p:spPr>
          <a:xfrm>
            <a:off x="6954675" y="11883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/>
              <a:t>THREATS</a:t>
            </a:r>
            <a:endParaRPr b="1"/>
          </a:p>
        </p:txBody>
      </p:sp>
      <p:sp>
        <p:nvSpPr>
          <p:cNvPr id="587" name="Google Shape;587;p59"/>
          <p:cNvSpPr txBox="1"/>
          <p:nvPr/>
        </p:nvSpPr>
        <p:spPr>
          <a:xfrm>
            <a:off x="57050" y="1540225"/>
            <a:ext cx="2075400" cy="29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LaBSE confirms </a:t>
            </a:r>
            <a:r>
              <a:rPr b="1"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high semantic consistency</a:t>
            </a:r>
            <a:r>
              <a:rPr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, ensuring accurate meaning transfer.</a:t>
            </a:r>
            <a:endParaRPr sz="1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</a:pPr>
            <a:r>
              <a:rPr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Strong contextual preservation enables clear comprehension in Hindi.</a:t>
            </a:r>
            <a:endParaRPr sz="1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</a:pPr>
            <a:r>
              <a:rPr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XLM-R handles Hindi script and morphology efficiently.</a:t>
            </a:r>
            <a:endParaRPr sz="1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</a:pPr>
            <a:r>
              <a:rPr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The dataset supports large-scale cross-lingual QA experimentation.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88" name="Google Shape;588;p59"/>
          <p:cNvSpPr txBox="1"/>
          <p:nvPr/>
        </p:nvSpPr>
        <p:spPr>
          <a:xfrm>
            <a:off x="2260951" y="1540225"/>
            <a:ext cx="2075400" cy="25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Exact span mismatch lowers extractive QA accuracy despite semantic fidelity. Many translated answers do not appear verbatim in contexts.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Surface-form variation reduces EM/F1 during evaluation.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Some Hindi contexts introduce subtle alignment drifts.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89" name="Google Shape;589;p59"/>
          <p:cNvSpPr txBox="1"/>
          <p:nvPr/>
        </p:nvSpPr>
        <p:spPr>
          <a:xfrm>
            <a:off x="4476888" y="1506925"/>
            <a:ext cx="2201100" cy="26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Move to </a:t>
            </a:r>
            <a:r>
              <a:rPr b="1"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mT5 generative QA</a:t>
            </a: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, eliminating span dependence entirely.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Combine LaBSE + token-level similarity for deeper alignment improvement.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Explore larger multilingual models for Hindi extractive QA improvements.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Extend pipeline to multi-Indic QA datasets and cross-lingual benchmarks.</a:t>
            </a:r>
            <a:endParaRPr sz="11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90" name="Google Shape;590;p59"/>
          <p:cNvSpPr txBox="1"/>
          <p:nvPr/>
        </p:nvSpPr>
        <p:spPr>
          <a:xfrm>
            <a:off x="6678000" y="1471950"/>
            <a:ext cx="2237400" cy="29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Translation variability may distort factual precision over long contexts.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Extractive QA remains fragile when spans transform morphologically.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Risk of lower generalization on native Hindi datasets (not translated).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</a:pPr>
            <a:r>
              <a:rPr lang="en"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Higher translation noise could shrink the effective training set further.</a:t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0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- 5 - mT5 - Urdu</a:t>
            </a:r>
            <a:endParaRPr/>
          </a:p>
        </p:txBody>
      </p:sp>
      <p:sp>
        <p:nvSpPr>
          <p:cNvPr id="596" name="Google Shape;596;p60"/>
          <p:cNvSpPr txBox="1"/>
          <p:nvPr>
            <p:ph idx="1" type="subTitle"/>
          </p:nvPr>
        </p:nvSpPr>
        <p:spPr>
          <a:xfrm>
            <a:off x="230075" y="882000"/>
            <a:ext cx="3716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Pre-processing and Modelling</a:t>
            </a:r>
            <a:endParaRPr/>
          </a:p>
        </p:txBody>
      </p:sp>
      <p:sp>
        <p:nvSpPr>
          <p:cNvPr id="597" name="Google Shape;597;p60"/>
          <p:cNvSpPr txBox="1"/>
          <p:nvPr>
            <p:ph idx="4" type="body"/>
          </p:nvPr>
        </p:nvSpPr>
        <p:spPr>
          <a:xfrm>
            <a:off x="213600" y="1218100"/>
            <a:ext cx="3462600" cy="303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/>
              <a:t>Started with </a:t>
            </a:r>
            <a:r>
              <a:rPr b="1" lang="en" sz="1100"/>
              <a:t>130k SQuAD v2.0 English samples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/>
              <a:t>Translated to Urdu using </a:t>
            </a:r>
            <a:r>
              <a:rPr b="1" lang="en" sz="1100"/>
              <a:t>NLLB-200 (600M)</a:t>
            </a:r>
            <a:r>
              <a:rPr lang="en" sz="1100"/>
              <a:t> → context, question, answer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/>
              <a:t>Translation done in 7 safe chunks (A–G), GPU-accelerated via MPS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/>
              <a:t>Cleaned and validated the Urdu corpus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/>
              <a:t>Converted to final SQuAD-style Urdu JSON files: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○"/>
            </a:pPr>
            <a:r>
              <a:rPr lang="en" sz="1100"/>
              <a:t>train.json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○"/>
            </a:pPr>
            <a:r>
              <a:rPr lang="en" sz="1100"/>
              <a:t>dev.json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Jost"/>
              <a:buChar char="●"/>
            </a:pPr>
            <a:r>
              <a:rPr lang="en" sz="1100"/>
              <a:t>Filtered out unanswerable samples for training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/>
              <a:t>Input format used during fine-tuning:</a:t>
            </a:r>
            <a:br>
              <a:rPr lang="en" sz="1100"/>
            </a:br>
            <a:r>
              <a:rPr b="1" lang="en" sz="1100"/>
              <a:t>“سوال:   متن: ”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60"/>
          <p:cNvSpPr txBox="1"/>
          <p:nvPr/>
        </p:nvSpPr>
        <p:spPr>
          <a:xfrm>
            <a:off x="4618950" y="5400"/>
            <a:ext cx="4525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Modelling — mT5 </a:t>
            </a:r>
            <a:r>
              <a:rPr b="1" lang="en" sz="17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Small &amp; </a:t>
            </a:r>
            <a:r>
              <a:rPr b="1" lang="en" sz="17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Large</a:t>
            </a:r>
            <a:endParaRPr b="1" sz="17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99" name="Google Shape;599;p60"/>
          <p:cNvSpPr txBox="1"/>
          <p:nvPr/>
        </p:nvSpPr>
        <p:spPr>
          <a:xfrm>
            <a:off x="4618950" y="451800"/>
            <a:ext cx="2331300" cy="23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mT5-Smal</a:t>
            </a:r>
            <a:r>
              <a:rPr b="1" lang="en" sz="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</a:t>
            </a:r>
            <a:endParaRPr b="1" sz="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Lightweight multilingual seq-to-seq model used as the baseline for Urdu QA.</a:t>
            </a:r>
            <a:endParaRPr b="1" sz="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Trained on Urdu-only SQuAD text-to-text prompts (سوال + متن → جواب).</a:t>
            </a:r>
            <a:endParaRPr b="1" sz="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Handles shorter contexts well but struggles with long passages and entity-heavy answers.</a:t>
            </a:r>
            <a:endParaRPr b="1" sz="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Tends to paraphrase or add extra words, leading to lower Exact Match even when F1 is decent.</a:t>
            </a:r>
            <a:endParaRPr b="1" sz="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600" name="Google Shape;600;p60" title="mT5-Small vs mT5-Large – EM &amp; F1 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788" y="3073825"/>
            <a:ext cx="3895624" cy="2069674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60"/>
          <p:cNvSpPr txBox="1"/>
          <p:nvPr/>
        </p:nvSpPr>
        <p:spPr>
          <a:xfrm>
            <a:off x="6812700" y="346425"/>
            <a:ext cx="23313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mT5-Large</a:t>
            </a:r>
            <a:endParaRPr b="1" sz="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High-capacity multilingual transformer with stronger Urdu representations.</a:t>
            </a:r>
            <a:endParaRPr b="1" sz="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More accurate on long contexts, complex sentences, and morphologically rich Urdu forms.</a:t>
            </a:r>
            <a:endParaRPr b="1" sz="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Generates cleaner, span-like answers with fewer hallucinations and less paraphrasing.</a:t>
            </a:r>
            <a:endParaRPr b="1" sz="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Shows major improvement in EM/F1 due to better retention of exact Urdu phrases.</a:t>
            </a:r>
            <a:endParaRPr b="1" sz="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Stable across different question lengths, especially mid-long questions.</a:t>
            </a:r>
            <a:endParaRPr sz="8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1"/>
          <p:cNvSpPr/>
          <p:nvPr/>
        </p:nvSpPr>
        <p:spPr>
          <a:xfrm>
            <a:off x="2435534" y="1620000"/>
            <a:ext cx="2075400" cy="32478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07" name="Google Shape;607;p61"/>
          <p:cNvSpPr/>
          <p:nvPr/>
        </p:nvSpPr>
        <p:spPr>
          <a:xfrm>
            <a:off x="6840001" y="1620000"/>
            <a:ext cx="2075400" cy="32478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08" name="Google Shape;608;p61"/>
          <p:cNvSpPr/>
          <p:nvPr/>
        </p:nvSpPr>
        <p:spPr>
          <a:xfrm>
            <a:off x="233300" y="1060850"/>
            <a:ext cx="2075400" cy="32478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09" name="Google Shape;609;p61"/>
          <p:cNvSpPr/>
          <p:nvPr/>
        </p:nvSpPr>
        <p:spPr>
          <a:xfrm>
            <a:off x="4637775" y="979150"/>
            <a:ext cx="2075400" cy="3470100"/>
          </a:xfrm>
          <a:prstGeom prst="roundRect">
            <a:avLst>
              <a:gd fmla="val 4989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10" name="Google Shape;610;p6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t"/>
                <a:ea typeface="Jost"/>
                <a:cs typeface="Jost"/>
                <a:sym typeface="Jost"/>
              </a:rPr>
              <a:t>Inference, Insights &amp; Results</a:t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11" name="Google Shape;611;p61"/>
          <p:cNvSpPr txBox="1"/>
          <p:nvPr>
            <p:ph idx="4" type="subTitle"/>
          </p:nvPr>
        </p:nvSpPr>
        <p:spPr>
          <a:xfrm>
            <a:off x="429350" y="1145850"/>
            <a:ext cx="16833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latin typeface="Jost"/>
                <a:ea typeface="Jost"/>
                <a:cs typeface="Jost"/>
                <a:sym typeface="Jost"/>
              </a:rPr>
              <a:t>STRENGTHS</a:t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12" name="Google Shape;612;p61"/>
          <p:cNvSpPr txBox="1"/>
          <p:nvPr>
            <p:ph idx="5" type="body"/>
          </p:nvPr>
        </p:nvSpPr>
        <p:spPr>
          <a:xfrm>
            <a:off x="4833800" y="14788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Much deeper multilingual pretraining → stronger Urdu representations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Larger capacity improves semantic alignment between question &amp; context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resistant to hallucination / over-generation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Better at precise span recovery (higher EM)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Stable performance across short, medium, and long questions</a:t>
            </a:r>
            <a:endParaRPr/>
          </a:p>
        </p:txBody>
      </p:sp>
      <p:sp>
        <p:nvSpPr>
          <p:cNvPr id="613" name="Google Shape;613;p61"/>
          <p:cNvSpPr txBox="1"/>
          <p:nvPr>
            <p:ph idx="6" type="subTitle"/>
          </p:nvPr>
        </p:nvSpPr>
        <p:spPr>
          <a:xfrm>
            <a:off x="4800513" y="979150"/>
            <a:ext cx="1683300" cy="431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lt1"/>
              </a:buClr>
              <a:buSzPts val="1100"/>
              <a:buNone/>
            </a:pPr>
            <a:r>
              <a:rPr b="1" lang="en">
                <a:latin typeface="Jost"/>
                <a:ea typeface="Jost"/>
                <a:cs typeface="Jost"/>
                <a:sym typeface="Jost"/>
              </a:rPr>
              <a:t>WHY mT5-LARGE - BETTER</a:t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14" name="Google Shape;614;p61"/>
          <p:cNvSpPr txBox="1"/>
          <p:nvPr>
            <p:ph idx="7" type="body"/>
          </p:nvPr>
        </p:nvSpPr>
        <p:spPr>
          <a:xfrm>
            <a:off x="2576213" y="20517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mT5-Small struggles with long contexts or complex entities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Generative nature → sometimes paraphrases instead of copying exact span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Occasional trailing text or partial-sentence outputs (hurts EM score)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Sensitive to translation noise in Urdu contexts (NLLB minor drift effects)</a:t>
            </a:r>
            <a:endParaRPr/>
          </a:p>
        </p:txBody>
      </p:sp>
      <p:sp>
        <p:nvSpPr>
          <p:cNvPr id="615" name="Google Shape;615;p61"/>
          <p:cNvSpPr txBox="1"/>
          <p:nvPr>
            <p:ph idx="8" type="subTitle"/>
          </p:nvPr>
        </p:nvSpPr>
        <p:spPr>
          <a:xfrm>
            <a:off x="2631575" y="1620000"/>
            <a:ext cx="16833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t"/>
                <a:ea typeface="Jost"/>
                <a:cs typeface="Jost"/>
                <a:sym typeface="Jost"/>
              </a:rPr>
              <a:t>WEAKNESSES</a:t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16" name="Google Shape;616;p61"/>
          <p:cNvSpPr txBox="1"/>
          <p:nvPr>
            <p:ph idx="9" type="body"/>
          </p:nvPr>
        </p:nvSpPr>
        <p:spPr>
          <a:xfrm>
            <a:off x="7036075" y="20173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/>
              <a:t>mT5-Large is the strongest Urdu QA model</a:t>
            </a:r>
            <a:r>
              <a:rPr lang="en" sz="800"/>
              <a:t> in our 5-language pipeline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/>
              <a:t>Generative transformers (mT5) outperform encoder-only baselines in fluency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/>
              <a:t>Fine-tuning with Urdu-only SQuAD JSON helps preserve extractive structure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/>
              <a:t>Future improvements: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/>
              <a:t>LoRA training for mT5-XL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/>
              <a:t>Urdu-specific normalization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/>
              <a:t>Span-guided decoding for tighter EM alignment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800"/>
          </a:p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17" name="Google Shape;617;p61"/>
          <p:cNvSpPr txBox="1"/>
          <p:nvPr>
            <p:ph idx="13" type="subTitle"/>
          </p:nvPr>
        </p:nvSpPr>
        <p:spPr>
          <a:xfrm>
            <a:off x="7036075" y="1585650"/>
            <a:ext cx="16833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lt1"/>
              </a:buClr>
              <a:buSzPts val="1100"/>
              <a:buNone/>
            </a:pPr>
            <a:r>
              <a:rPr b="1" lang="en">
                <a:latin typeface="Jost"/>
                <a:ea typeface="Jost"/>
                <a:cs typeface="Jost"/>
                <a:sym typeface="Jost"/>
              </a:rPr>
              <a:t>KEY TAKEAWAYS</a:t>
            </a: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18" name="Google Shape;618;p61"/>
          <p:cNvSpPr txBox="1"/>
          <p:nvPr>
            <p:ph idx="1" type="body"/>
          </p:nvPr>
        </p:nvSpPr>
        <p:spPr>
          <a:xfrm>
            <a:off x="429350" y="16200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/>
              <a:t>Strong Urdu QA performance despite being a low-resource language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/>
              <a:t>mT5-Large achieves very high scores</a:t>
            </a:r>
            <a:r>
              <a:rPr lang="en" sz="800"/>
              <a:t>:</a:t>
            </a:r>
            <a:endParaRPr sz="8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/>
              <a:t>EM: 71.26%</a:t>
            </a:r>
            <a:r>
              <a:rPr lang="en" sz="800"/>
              <a:t>, </a:t>
            </a:r>
            <a:r>
              <a:rPr b="1" lang="en" sz="800"/>
              <a:t>F1: 84.20%</a:t>
            </a:r>
            <a:endParaRPr b="1"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/>
              <a:t>mT5 models generate </a:t>
            </a:r>
            <a:r>
              <a:rPr b="1" lang="en" sz="800"/>
              <a:t>fluent, grammatically natural Urdu responses</a:t>
            </a:r>
            <a:endParaRPr b="1"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/>
              <a:t>Urdu morphology is handled well, especially in mT5-Large (fewer hallucinations)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/>
              <a:t>Consistent improvements across question lengths and difficulty levels</a:t>
            </a:r>
            <a:endParaRPr sz="800"/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2"/>
          <p:cNvSpPr/>
          <p:nvPr/>
        </p:nvSpPr>
        <p:spPr>
          <a:xfrm>
            <a:off x="803225" y="1234650"/>
            <a:ext cx="2667900" cy="2674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624" name="Google Shape;624;p62"/>
          <p:cNvSpPr/>
          <p:nvPr/>
        </p:nvSpPr>
        <p:spPr>
          <a:xfrm>
            <a:off x="3238050" y="1234650"/>
            <a:ext cx="2667900" cy="2674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625" name="Google Shape;625;p62"/>
          <p:cNvSpPr/>
          <p:nvPr/>
        </p:nvSpPr>
        <p:spPr>
          <a:xfrm>
            <a:off x="5672875" y="1234650"/>
            <a:ext cx="2667900" cy="2674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>
              <a:schemeClr val="dk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cxnSp>
        <p:nvCxnSpPr>
          <p:cNvPr id="626" name="Google Shape;626;p62"/>
          <p:cNvCxnSpPr>
            <a:stCxn id="623" idx="1"/>
          </p:cNvCxnSpPr>
          <p:nvPr/>
        </p:nvCxnSpPr>
        <p:spPr>
          <a:xfrm rot="10800000">
            <a:off x="125" y="2571750"/>
            <a:ext cx="8031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62"/>
          <p:cNvCxnSpPr>
            <a:stCxn id="625" idx="3"/>
          </p:cNvCxnSpPr>
          <p:nvPr/>
        </p:nvCxnSpPr>
        <p:spPr>
          <a:xfrm>
            <a:off x="8340775" y="2571750"/>
            <a:ext cx="8031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28" name="Google Shape;628;p6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Work</a:t>
            </a:r>
            <a:endParaRPr/>
          </a:p>
        </p:txBody>
      </p:sp>
      <p:sp>
        <p:nvSpPr>
          <p:cNvPr id="629" name="Google Shape;629;p6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Lost in Translation?</a:t>
            </a:r>
            <a:endParaRPr/>
          </a:p>
        </p:txBody>
      </p:sp>
      <p:sp>
        <p:nvSpPr>
          <p:cNvPr id="630" name="Google Shape;630;p62"/>
          <p:cNvSpPr txBox="1"/>
          <p:nvPr>
            <p:ph idx="5" type="subTitle"/>
          </p:nvPr>
        </p:nvSpPr>
        <p:spPr>
          <a:xfrm>
            <a:off x="3457950" y="1895400"/>
            <a:ext cx="2228100" cy="134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/>
              <a:t>Architecture-Language Match</a:t>
            </a:r>
            <a:r>
              <a:rPr lang="en"/>
              <a:t>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Generative models (mT5-Large: 71% EM) outperform extractive models for morphologically complex languages; best architecture depends on linguistic typology</a:t>
            </a:r>
            <a:endParaRPr/>
          </a:p>
        </p:txBody>
      </p:sp>
      <p:sp>
        <p:nvSpPr>
          <p:cNvPr id="631" name="Google Shape;631;p62"/>
          <p:cNvSpPr txBox="1"/>
          <p:nvPr>
            <p:ph idx="8" type="subTitle"/>
          </p:nvPr>
        </p:nvSpPr>
        <p:spPr>
          <a:xfrm>
            <a:off x="1023125" y="1895325"/>
            <a:ext cx="2228100" cy="134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Translation Quality Bottleneck</a:t>
            </a:r>
            <a:r>
              <a:rPr lang="en"/>
              <a:t>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23% answer misalignment from independent translation creates performance ceiling—data quality matters as much as model architecture</a:t>
            </a:r>
            <a:endParaRPr/>
          </a:p>
        </p:txBody>
      </p:sp>
      <p:sp>
        <p:nvSpPr>
          <p:cNvPr id="632" name="Google Shape;632;p62"/>
          <p:cNvSpPr txBox="1"/>
          <p:nvPr>
            <p:ph idx="14" type="subTitle"/>
          </p:nvPr>
        </p:nvSpPr>
        <p:spPr>
          <a:xfrm>
            <a:off x="5892775" y="1895325"/>
            <a:ext cx="2228100" cy="134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/>
              <a:t>Post-Processing &amp; Native Data</a:t>
            </a:r>
            <a:r>
              <a:rPr lang="en"/>
              <a:t>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Implement fuzzy matching for answer alignment, develop language-specific tokenizers, create native Indic QA benchmarks to eliminate translation artifacts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Lost in Translation?</a:t>
            </a:r>
            <a:endParaRPr/>
          </a:p>
        </p:txBody>
      </p:sp>
      <p:sp>
        <p:nvSpPr>
          <p:cNvPr id="638" name="Google Shape;638;p63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639" name="Google Shape;639;p63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